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ading Now 71-78" charset="1" panose="00000000000000000000"/>
      <p:regular r:id="rId23"/>
    </p:embeddedFont>
    <p:embeddedFont>
      <p:font typeface="TT Firs Neue Bold" charset="1" panose="02000803030000020004"/>
      <p:regular r:id="rId24"/>
    </p:embeddedFont>
    <p:embeddedFont>
      <p:font typeface="TT Firs Neue" charset="1" panose="02000503030000020004"/>
      <p:regular r:id="rId25"/>
    </p:embeddedFont>
    <p:embeddedFont>
      <p:font typeface="Open Sauce Bold" charset="1" panose="00000800000000000000"/>
      <p:regular r:id="rId26"/>
    </p:embeddedFont>
    <p:embeddedFont>
      <p:font typeface="Open Sauce" charset="1" panose="00000500000000000000"/>
      <p:regular r:id="rId27"/>
    </p:embeddedFont>
    <p:embeddedFont>
      <p:font typeface="Poppins Medium" charset="1" panose="000006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https://www.kalam.cx" TargetMode="External" Type="http://schemas.openxmlformats.org/officeDocument/2006/relationships/hyperlink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9.pn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48.pn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188795">
            <a:off x="-1039289" y="3776224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0972" r="-676614" b="-2140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7914"/>
            <a:ext cx="18288000" cy="1464076"/>
            <a:chOff x="0" y="0"/>
            <a:chExt cx="4816593" cy="38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85600"/>
            </a:xfrm>
            <a:custGeom>
              <a:avLst/>
              <a:gdLst/>
              <a:ahLst/>
              <a:cxnLst/>
              <a:rect r="r" b="b" t="t" l="l"/>
              <a:pathLst>
                <a:path h="3856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600"/>
                  </a:lnTo>
                  <a:lnTo>
                    <a:pt x="0" y="385600"/>
                  </a:lnTo>
                  <a:close/>
                </a:path>
              </a:pathLst>
            </a:custGeom>
            <a:solidFill>
              <a:srgbClr val="D48E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16593" cy="41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38248" y="448971"/>
            <a:ext cx="4068331" cy="610379"/>
            <a:chOff x="0" y="0"/>
            <a:chExt cx="1071495" cy="160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494" cy="160758"/>
            </a:xfrm>
            <a:custGeom>
              <a:avLst/>
              <a:gdLst/>
              <a:ahLst/>
              <a:cxnLst/>
              <a:rect r="r" b="b" t="t" l="l"/>
              <a:pathLst>
                <a:path h="160758" w="1071494">
                  <a:moveTo>
                    <a:pt x="80379" y="0"/>
                  </a:moveTo>
                  <a:lnTo>
                    <a:pt x="991115" y="0"/>
                  </a:lnTo>
                  <a:cubicBezTo>
                    <a:pt x="1012433" y="0"/>
                    <a:pt x="1032878" y="8468"/>
                    <a:pt x="1047952" y="23542"/>
                  </a:cubicBezTo>
                  <a:cubicBezTo>
                    <a:pt x="1063026" y="38616"/>
                    <a:pt x="1071494" y="59061"/>
                    <a:pt x="1071494" y="80379"/>
                  </a:cubicBezTo>
                  <a:lnTo>
                    <a:pt x="1071494" y="80379"/>
                  </a:lnTo>
                  <a:cubicBezTo>
                    <a:pt x="1071494" y="101697"/>
                    <a:pt x="1063026" y="122142"/>
                    <a:pt x="1047952" y="137216"/>
                  </a:cubicBezTo>
                  <a:cubicBezTo>
                    <a:pt x="1032878" y="152290"/>
                    <a:pt x="1012433" y="160758"/>
                    <a:pt x="991115" y="160758"/>
                  </a:cubicBezTo>
                  <a:lnTo>
                    <a:pt x="80379" y="160758"/>
                  </a:lnTo>
                  <a:cubicBezTo>
                    <a:pt x="59061" y="160758"/>
                    <a:pt x="38616" y="152290"/>
                    <a:pt x="23542" y="137216"/>
                  </a:cubicBezTo>
                  <a:cubicBezTo>
                    <a:pt x="8468" y="122142"/>
                    <a:pt x="0" y="101697"/>
                    <a:pt x="0" y="80379"/>
                  </a:cubicBezTo>
                  <a:lnTo>
                    <a:pt x="0" y="80379"/>
                  </a:lnTo>
                  <a:cubicBezTo>
                    <a:pt x="0" y="59061"/>
                    <a:pt x="8468" y="38616"/>
                    <a:pt x="23542" y="23542"/>
                  </a:cubicBezTo>
                  <a:cubicBezTo>
                    <a:pt x="38616" y="8468"/>
                    <a:pt x="59061" y="0"/>
                    <a:pt x="803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71495" cy="18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88529" y="426849"/>
            <a:ext cx="7587388" cy="632501"/>
            <a:chOff x="0" y="0"/>
            <a:chExt cx="1998324" cy="1665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8324" cy="166585"/>
            </a:xfrm>
            <a:custGeom>
              <a:avLst/>
              <a:gdLst/>
              <a:ahLst/>
              <a:cxnLst/>
              <a:rect r="r" b="b" t="t" l="l"/>
              <a:pathLst>
                <a:path h="166585" w="1998324">
                  <a:moveTo>
                    <a:pt x="52039" y="0"/>
                  </a:moveTo>
                  <a:lnTo>
                    <a:pt x="1946286" y="0"/>
                  </a:lnTo>
                  <a:cubicBezTo>
                    <a:pt x="1975026" y="0"/>
                    <a:pt x="1998324" y="23299"/>
                    <a:pt x="1998324" y="52039"/>
                  </a:cubicBezTo>
                  <a:lnTo>
                    <a:pt x="1998324" y="114546"/>
                  </a:lnTo>
                  <a:cubicBezTo>
                    <a:pt x="1998324" y="143286"/>
                    <a:pt x="1975026" y="166585"/>
                    <a:pt x="1946286" y="166585"/>
                  </a:cubicBezTo>
                  <a:lnTo>
                    <a:pt x="52039" y="166585"/>
                  </a:lnTo>
                  <a:cubicBezTo>
                    <a:pt x="23299" y="166585"/>
                    <a:pt x="0" y="143286"/>
                    <a:pt x="0" y="114546"/>
                  </a:cubicBezTo>
                  <a:lnTo>
                    <a:pt x="0" y="52039"/>
                  </a:lnTo>
                  <a:cubicBezTo>
                    <a:pt x="0" y="23299"/>
                    <a:pt x="23299" y="0"/>
                    <a:pt x="520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98324" cy="195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45634" y="433646"/>
            <a:ext cx="2038508" cy="641028"/>
            <a:chOff x="0" y="0"/>
            <a:chExt cx="536891" cy="1688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891" cy="168831"/>
            </a:xfrm>
            <a:custGeom>
              <a:avLst/>
              <a:gdLst/>
              <a:ahLst/>
              <a:cxnLst/>
              <a:rect r="r" b="b" t="t" l="l"/>
              <a:pathLst>
                <a:path h="168831" w="536891">
                  <a:moveTo>
                    <a:pt x="84415" y="0"/>
                  </a:moveTo>
                  <a:lnTo>
                    <a:pt x="452476" y="0"/>
                  </a:lnTo>
                  <a:cubicBezTo>
                    <a:pt x="474864" y="0"/>
                    <a:pt x="496335" y="8894"/>
                    <a:pt x="512166" y="24725"/>
                  </a:cubicBezTo>
                  <a:cubicBezTo>
                    <a:pt x="527997" y="40556"/>
                    <a:pt x="536891" y="62027"/>
                    <a:pt x="536891" y="84415"/>
                  </a:cubicBezTo>
                  <a:lnTo>
                    <a:pt x="536891" y="84415"/>
                  </a:lnTo>
                  <a:cubicBezTo>
                    <a:pt x="536891" y="131037"/>
                    <a:pt x="499097" y="168831"/>
                    <a:pt x="452476" y="168831"/>
                  </a:cubicBezTo>
                  <a:lnTo>
                    <a:pt x="84415" y="168831"/>
                  </a:lnTo>
                  <a:cubicBezTo>
                    <a:pt x="37794" y="168831"/>
                    <a:pt x="0" y="131037"/>
                    <a:pt x="0" y="84415"/>
                  </a:cubicBezTo>
                  <a:lnTo>
                    <a:pt x="0" y="84415"/>
                  </a:lnTo>
                  <a:cubicBezTo>
                    <a:pt x="0" y="37794"/>
                    <a:pt x="37794" y="0"/>
                    <a:pt x="84415" y="0"/>
                  </a:cubicBezTo>
                  <a:close/>
                </a:path>
              </a:pathLst>
            </a:custGeom>
            <a:solidFill>
              <a:srgbClr val="FFDD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36891" cy="19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88529" y="426849"/>
            <a:ext cx="596574" cy="610379"/>
            <a:chOff x="0" y="0"/>
            <a:chExt cx="157122" cy="1607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7122" cy="160758"/>
            </a:xfrm>
            <a:custGeom>
              <a:avLst/>
              <a:gdLst/>
              <a:ahLst/>
              <a:cxnLst/>
              <a:rect r="r" b="b" t="t" l="l"/>
              <a:pathLst>
                <a:path h="160758" w="157122">
                  <a:moveTo>
                    <a:pt x="78561" y="0"/>
                  </a:moveTo>
                  <a:lnTo>
                    <a:pt x="78561" y="0"/>
                  </a:lnTo>
                  <a:cubicBezTo>
                    <a:pt x="121949" y="0"/>
                    <a:pt x="157122" y="35173"/>
                    <a:pt x="157122" y="78561"/>
                  </a:cubicBezTo>
                  <a:lnTo>
                    <a:pt x="157122" y="82197"/>
                  </a:lnTo>
                  <a:cubicBezTo>
                    <a:pt x="157122" y="125585"/>
                    <a:pt x="121949" y="160758"/>
                    <a:pt x="78561" y="160758"/>
                  </a:cubicBezTo>
                  <a:lnTo>
                    <a:pt x="78561" y="160758"/>
                  </a:lnTo>
                  <a:cubicBezTo>
                    <a:pt x="35173" y="160758"/>
                    <a:pt x="0" y="125585"/>
                    <a:pt x="0" y="82197"/>
                  </a:cubicBezTo>
                  <a:lnTo>
                    <a:pt x="0" y="78561"/>
                  </a:lnTo>
                  <a:cubicBezTo>
                    <a:pt x="0" y="35173"/>
                    <a:pt x="35173" y="0"/>
                    <a:pt x="78561" y="0"/>
                  </a:cubicBezTo>
                  <a:close/>
                </a:path>
              </a:pathLst>
            </a:custGeom>
            <a:solidFill>
              <a:srgbClr val="FFDD7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7122" cy="18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401106" y="556116"/>
            <a:ext cx="228570" cy="333447"/>
          </a:xfrm>
          <a:custGeom>
            <a:avLst/>
            <a:gdLst/>
            <a:ahLst/>
            <a:cxnLst/>
            <a:rect r="r" b="b" t="t" l="l"/>
            <a:pathLst>
              <a:path h="333447" w="228570">
                <a:moveTo>
                  <a:pt x="0" y="0"/>
                </a:moveTo>
                <a:lnTo>
                  <a:pt x="228570" y="0"/>
                </a:lnTo>
                <a:lnTo>
                  <a:pt x="228570" y="333447"/>
                </a:lnTo>
                <a:lnTo>
                  <a:pt x="0" y="33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115182" y="2434711"/>
            <a:ext cx="4353360" cy="6823589"/>
            <a:chOff x="0" y="0"/>
            <a:chExt cx="674449" cy="1057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4449" cy="1057152"/>
            </a:xfrm>
            <a:custGeom>
              <a:avLst/>
              <a:gdLst/>
              <a:ahLst/>
              <a:cxnLst/>
              <a:rect r="r" b="b" t="t" l="l"/>
              <a:pathLst>
                <a:path h="1057152" w="674449">
                  <a:moveTo>
                    <a:pt x="71135" y="0"/>
                  </a:moveTo>
                  <a:lnTo>
                    <a:pt x="603314" y="0"/>
                  </a:lnTo>
                  <a:cubicBezTo>
                    <a:pt x="642601" y="0"/>
                    <a:pt x="674449" y="31848"/>
                    <a:pt x="674449" y="71135"/>
                  </a:cubicBezTo>
                  <a:lnTo>
                    <a:pt x="674449" y="986017"/>
                  </a:lnTo>
                  <a:cubicBezTo>
                    <a:pt x="674449" y="1004884"/>
                    <a:pt x="666955" y="1022977"/>
                    <a:pt x="653614" y="1036317"/>
                  </a:cubicBezTo>
                  <a:cubicBezTo>
                    <a:pt x="640274" y="1049658"/>
                    <a:pt x="622180" y="1057152"/>
                    <a:pt x="603314" y="1057152"/>
                  </a:cubicBezTo>
                  <a:lnTo>
                    <a:pt x="71135" y="1057152"/>
                  </a:lnTo>
                  <a:cubicBezTo>
                    <a:pt x="31848" y="1057152"/>
                    <a:pt x="0" y="1025304"/>
                    <a:pt x="0" y="986017"/>
                  </a:cubicBezTo>
                  <a:lnTo>
                    <a:pt x="0" y="71135"/>
                  </a:lnTo>
                  <a:cubicBezTo>
                    <a:pt x="0" y="52269"/>
                    <a:pt x="7495" y="34175"/>
                    <a:pt x="20835" y="20835"/>
                  </a:cubicBezTo>
                  <a:cubicBezTo>
                    <a:pt x="34175" y="7495"/>
                    <a:pt x="52269" y="0"/>
                    <a:pt x="71135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05940" y="2434711"/>
            <a:ext cx="4353360" cy="6823589"/>
            <a:chOff x="0" y="0"/>
            <a:chExt cx="674449" cy="10571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4449" cy="1057152"/>
            </a:xfrm>
            <a:custGeom>
              <a:avLst/>
              <a:gdLst/>
              <a:ahLst/>
              <a:cxnLst/>
              <a:rect r="r" b="b" t="t" l="l"/>
              <a:pathLst>
                <a:path h="1057152" w="674449">
                  <a:moveTo>
                    <a:pt x="71135" y="0"/>
                  </a:moveTo>
                  <a:lnTo>
                    <a:pt x="603314" y="0"/>
                  </a:lnTo>
                  <a:cubicBezTo>
                    <a:pt x="642601" y="0"/>
                    <a:pt x="674449" y="31848"/>
                    <a:pt x="674449" y="71135"/>
                  </a:cubicBezTo>
                  <a:lnTo>
                    <a:pt x="674449" y="986017"/>
                  </a:lnTo>
                  <a:cubicBezTo>
                    <a:pt x="674449" y="1004884"/>
                    <a:pt x="666955" y="1022977"/>
                    <a:pt x="653614" y="1036317"/>
                  </a:cubicBezTo>
                  <a:cubicBezTo>
                    <a:pt x="640274" y="1049658"/>
                    <a:pt x="622180" y="1057152"/>
                    <a:pt x="603314" y="1057152"/>
                  </a:cubicBezTo>
                  <a:lnTo>
                    <a:pt x="71135" y="1057152"/>
                  </a:lnTo>
                  <a:cubicBezTo>
                    <a:pt x="31848" y="1057152"/>
                    <a:pt x="0" y="1025304"/>
                    <a:pt x="0" y="986017"/>
                  </a:cubicBezTo>
                  <a:lnTo>
                    <a:pt x="0" y="71135"/>
                  </a:lnTo>
                  <a:cubicBezTo>
                    <a:pt x="0" y="52269"/>
                    <a:pt x="7495" y="34175"/>
                    <a:pt x="20835" y="20835"/>
                  </a:cubicBezTo>
                  <a:cubicBezTo>
                    <a:pt x="34175" y="7495"/>
                    <a:pt x="52269" y="0"/>
                    <a:pt x="71135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115182" y="3004228"/>
            <a:ext cx="8665281" cy="6254072"/>
          </a:xfrm>
          <a:custGeom>
            <a:avLst/>
            <a:gdLst/>
            <a:ahLst/>
            <a:cxnLst/>
            <a:rect r="r" b="b" t="t" l="l"/>
            <a:pathLst>
              <a:path h="6254072" w="8665281">
                <a:moveTo>
                  <a:pt x="0" y="0"/>
                </a:moveTo>
                <a:lnTo>
                  <a:pt x="8665281" y="0"/>
                </a:lnTo>
                <a:lnTo>
                  <a:pt x="8665281" y="6254072"/>
                </a:lnTo>
                <a:lnTo>
                  <a:pt x="0" y="6254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846545" y="8010848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-10004087">
            <a:off x="17876341" y="1949185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5466842" y="9404773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4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4" y="1303271"/>
                </a:lnTo>
                <a:lnTo>
                  <a:pt x="110499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6289547" y="2288038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264" y="191218"/>
            <a:ext cx="3116459" cy="1137466"/>
          </a:xfrm>
          <a:custGeom>
            <a:avLst/>
            <a:gdLst/>
            <a:ahLst/>
            <a:cxnLst/>
            <a:rect r="r" b="b" t="t" l="l"/>
            <a:pathLst>
              <a:path h="1137466" w="3116459">
                <a:moveTo>
                  <a:pt x="0" y="0"/>
                </a:moveTo>
                <a:lnTo>
                  <a:pt x="3116459" y="0"/>
                </a:lnTo>
                <a:lnTo>
                  <a:pt x="3116459" y="1137467"/>
                </a:lnTo>
                <a:lnTo>
                  <a:pt x="0" y="11374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4196" r="0" b="-62913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67493" y="4139612"/>
            <a:ext cx="4893553" cy="290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5415" spc="-297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AI-P</a:t>
            </a:r>
            <a:r>
              <a:rPr lang="en-US" sz="5415" spc="-297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owered After-Call Automation Platform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79687" y="547570"/>
            <a:ext cx="1979071" cy="33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b="true" sz="1975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1975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resented By: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20683" y="545602"/>
            <a:ext cx="3285896" cy="38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b="true" sz="2247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Mariam Khalil Nassar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47028" y="508491"/>
            <a:ext cx="682888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Exology</a:t>
            </a:r>
            <a:r>
              <a:rPr lang="en-US" b="true" sz="26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Pioneer Program Final 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9502" y="3207607"/>
            <a:ext cx="6732911" cy="48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283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"AI</a:t>
            </a:r>
            <a:r>
              <a:rPr lang="en-US" sz="283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drafts it. A human approves it."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18392" y="9803678"/>
            <a:ext cx="17826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8927" y="1137416"/>
            <a:ext cx="3436130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Ag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55378" y="3262275"/>
            <a:ext cx="32832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Problem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2188795">
            <a:off x="2268195" y="-556639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6545" y="431346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004087">
            <a:off x="16335558" y="396085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215960" y="917965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2"/>
                </a:lnTo>
                <a:lnTo>
                  <a:pt x="1104993" y="1303272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15945" y="198054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55378" y="4635145"/>
            <a:ext cx="561666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How It Decides (the guardrails)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41008" y="8753756"/>
            <a:ext cx="437501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What I'd Build Next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55378" y="7380886"/>
            <a:ext cx="700815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Human-in-the-Loop &amp; Operations 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8927" y="6694451"/>
            <a:ext cx="32832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Live Demo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55378" y="5321580"/>
            <a:ext cx="454627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55378" y="8067321"/>
            <a:ext cx="583073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Evaluation — Is It Actually Right?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55378" y="3948710"/>
            <a:ext cx="5723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Product — What It Does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55378" y="6008015"/>
            <a:ext cx="32832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Data Model</a:t>
            </a:r>
          </a:p>
        </p:txBody>
      </p:sp>
      <p:sp>
        <p:nvSpPr>
          <p:cNvPr name="AutoShape 17" id="17"/>
          <p:cNvSpPr/>
          <p:nvPr/>
        </p:nvSpPr>
        <p:spPr>
          <a:xfrm>
            <a:off x="3427931" y="228991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704293" y="2574362"/>
            <a:ext cx="32832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AutoNum type="arabicPeriod" startAt="1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About the Client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62115" y="1028700"/>
            <a:ext cx="4186335" cy="5933805"/>
            <a:chOff x="0" y="0"/>
            <a:chExt cx="718650" cy="10186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8650" cy="1018631"/>
            </a:xfrm>
            <a:custGeom>
              <a:avLst/>
              <a:gdLst/>
              <a:ahLst/>
              <a:cxnLst/>
              <a:rect r="r" b="b" t="t" l="l"/>
              <a:pathLst>
                <a:path h="1018631" w="718650">
                  <a:moveTo>
                    <a:pt x="64727" y="0"/>
                  </a:moveTo>
                  <a:lnTo>
                    <a:pt x="653924" y="0"/>
                  </a:lnTo>
                  <a:cubicBezTo>
                    <a:pt x="689671" y="0"/>
                    <a:pt x="718650" y="28979"/>
                    <a:pt x="718650" y="64727"/>
                  </a:cubicBezTo>
                  <a:lnTo>
                    <a:pt x="718650" y="953904"/>
                  </a:lnTo>
                  <a:cubicBezTo>
                    <a:pt x="718650" y="971071"/>
                    <a:pt x="711831" y="987534"/>
                    <a:pt x="699692" y="999673"/>
                  </a:cubicBezTo>
                  <a:cubicBezTo>
                    <a:pt x="687554" y="1011812"/>
                    <a:pt x="671090" y="1018631"/>
                    <a:pt x="653924" y="1018631"/>
                  </a:cubicBezTo>
                  <a:lnTo>
                    <a:pt x="64727" y="1018631"/>
                  </a:lnTo>
                  <a:cubicBezTo>
                    <a:pt x="47560" y="1018631"/>
                    <a:pt x="31097" y="1011812"/>
                    <a:pt x="18958" y="999673"/>
                  </a:cubicBezTo>
                  <a:cubicBezTo>
                    <a:pt x="6819" y="987534"/>
                    <a:pt x="0" y="971071"/>
                    <a:pt x="0" y="953904"/>
                  </a:cubicBezTo>
                  <a:lnTo>
                    <a:pt x="0" y="64727"/>
                  </a:lnTo>
                  <a:cubicBezTo>
                    <a:pt x="0" y="47560"/>
                    <a:pt x="6819" y="31097"/>
                    <a:pt x="18958" y="18958"/>
                  </a:cubicBezTo>
                  <a:cubicBezTo>
                    <a:pt x="31097" y="6819"/>
                    <a:pt x="47560" y="0"/>
                    <a:pt x="64727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72965" y="3324495"/>
            <a:ext cx="4186335" cy="5933805"/>
            <a:chOff x="0" y="0"/>
            <a:chExt cx="718650" cy="1018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8650" cy="1018631"/>
            </a:xfrm>
            <a:custGeom>
              <a:avLst/>
              <a:gdLst/>
              <a:ahLst/>
              <a:cxnLst/>
              <a:rect r="r" b="b" t="t" l="l"/>
              <a:pathLst>
                <a:path h="1018631" w="718650">
                  <a:moveTo>
                    <a:pt x="64727" y="0"/>
                  </a:moveTo>
                  <a:lnTo>
                    <a:pt x="653924" y="0"/>
                  </a:lnTo>
                  <a:cubicBezTo>
                    <a:pt x="689671" y="0"/>
                    <a:pt x="718650" y="28979"/>
                    <a:pt x="718650" y="64727"/>
                  </a:cubicBezTo>
                  <a:lnTo>
                    <a:pt x="718650" y="953904"/>
                  </a:lnTo>
                  <a:cubicBezTo>
                    <a:pt x="718650" y="971071"/>
                    <a:pt x="711831" y="987534"/>
                    <a:pt x="699692" y="999673"/>
                  </a:cubicBezTo>
                  <a:cubicBezTo>
                    <a:pt x="687554" y="1011812"/>
                    <a:pt x="671090" y="1018631"/>
                    <a:pt x="653924" y="1018631"/>
                  </a:cubicBezTo>
                  <a:lnTo>
                    <a:pt x="64727" y="1018631"/>
                  </a:lnTo>
                  <a:cubicBezTo>
                    <a:pt x="47560" y="1018631"/>
                    <a:pt x="31097" y="1011812"/>
                    <a:pt x="18958" y="999673"/>
                  </a:cubicBezTo>
                  <a:cubicBezTo>
                    <a:pt x="6819" y="987534"/>
                    <a:pt x="0" y="971071"/>
                    <a:pt x="0" y="953904"/>
                  </a:cubicBezTo>
                  <a:lnTo>
                    <a:pt x="0" y="64727"/>
                  </a:lnTo>
                  <a:cubicBezTo>
                    <a:pt x="0" y="47560"/>
                    <a:pt x="6819" y="31097"/>
                    <a:pt x="18958" y="18958"/>
                  </a:cubicBezTo>
                  <a:cubicBezTo>
                    <a:pt x="31097" y="6819"/>
                    <a:pt x="47560" y="0"/>
                    <a:pt x="64727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815516" y="881611"/>
            <a:ext cx="8178694" cy="8376689"/>
          </a:xfrm>
          <a:custGeom>
            <a:avLst/>
            <a:gdLst/>
            <a:ahLst/>
            <a:cxnLst/>
            <a:rect r="r" b="b" t="t" l="l"/>
            <a:pathLst>
              <a:path h="8376689" w="8178694">
                <a:moveTo>
                  <a:pt x="0" y="0"/>
                </a:moveTo>
                <a:lnTo>
                  <a:pt x="8178694" y="0"/>
                </a:lnTo>
                <a:lnTo>
                  <a:pt x="8178694" y="8376689"/>
                </a:lnTo>
                <a:lnTo>
                  <a:pt x="0" y="837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6971" y="1121656"/>
            <a:ext cx="411106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About the Client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0598" y="8277069"/>
            <a:ext cx="617117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learn more: </a:t>
            </a:r>
            <a:r>
              <a:rPr lang="en-US" b="true" sz="2599" u="sng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  <a:hlinkClick r:id="rId4" tooltip="https://www.kalam.cx"/>
              </a:rPr>
              <a:t>https://www.kalam.cx/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609" y="3602200"/>
            <a:ext cx="7899250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Kalam CX is a FutureGroup company running cust</a:t>
            </a:r>
            <a:r>
              <a:rPr lang="en-US" sz="23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omer support operations for multiple client accounts across different industries — handling thousands of calls a day.</a:t>
            </a:r>
          </a:p>
          <a:p>
            <a:pPr algn="l" marL="0" indent="0" lvl="0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Every call an agent takes has to be written up afterward: what the customer wanted, what was done, the category, the next steps. That write-up currently happens by hand, call after call, agent after agent.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2188795">
            <a:off x="5650600" y="-406786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46545" y="431346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10004087">
            <a:off x="16335558" y="396085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6562561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615945" y="198054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64" y="191218"/>
            <a:ext cx="3116459" cy="1137466"/>
          </a:xfrm>
          <a:custGeom>
            <a:avLst/>
            <a:gdLst/>
            <a:ahLst/>
            <a:cxnLst/>
            <a:rect r="r" b="b" t="t" l="l"/>
            <a:pathLst>
              <a:path h="1137466" w="3116459">
                <a:moveTo>
                  <a:pt x="0" y="0"/>
                </a:moveTo>
                <a:lnTo>
                  <a:pt x="3116459" y="0"/>
                </a:lnTo>
                <a:lnTo>
                  <a:pt x="3116459" y="1137467"/>
                </a:lnTo>
                <a:lnTo>
                  <a:pt x="0" y="11374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196" r="0" b="-6291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0617" y="6354331"/>
            <a:ext cx="5807148" cy="2903969"/>
            <a:chOff x="0" y="0"/>
            <a:chExt cx="899679" cy="4499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9679" cy="449901"/>
            </a:xfrm>
            <a:custGeom>
              <a:avLst/>
              <a:gdLst/>
              <a:ahLst/>
              <a:cxnLst/>
              <a:rect r="r" b="b" t="t" l="l"/>
              <a:pathLst>
                <a:path h="449901" w="899679">
                  <a:moveTo>
                    <a:pt x="46661" y="0"/>
                  </a:moveTo>
                  <a:lnTo>
                    <a:pt x="853018" y="0"/>
                  </a:lnTo>
                  <a:cubicBezTo>
                    <a:pt x="865393" y="0"/>
                    <a:pt x="877262" y="4916"/>
                    <a:pt x="886012" y="13667"/>
                  </a:cubicBezTo>
                  <a:cubicBezTo>
                    <a:pt x="894763" y="22417"/>
                    <a:pt x="899679" y="34286"/>
                    <a:pt x="899679" y="46661"/>
                  </a:cubicBezTo>
                  <a:lnTo>
                    <a:pt x="899679" y="403240"/>
                  </a:lnTo>
                  <a:cubicBezTo>
                    <a:pt x="899679" y="429010"/>
                    <a:pt x="878788" y="449901"/>
                    <a:pt x="853018" y="449901"/>
                  </a:cubicBezTo>
                  <a:lnTo>
                    <a:pt x="46661" y="449901"/>
                  </a:lnTo>
                  <a:cubicBezTo>
                    <a:pt x="34286" y="449901"/>
                    <a:pt x="22417" y="444985"/>
                    <a:pt x="13667" y="436234"/>
                  </a:cubicBezTo>
                  <a:cubicBezTo>
                    <a:pt x="4916" y="427483"/>
                    <a:pt x="0" y="415615"/>
                    <a:pt x="0" y="403240"/>
                  </a:cubicBezTo>
                  <a:lnTo>
                    <a:pt x="0" y="46661"/>
                  </a:lnTo>
                  <a:cubicBezTo>
                    <a:pt x="0" y="20891"/>
                    <a:pt x="20891" y="0"/>
                    <a:pt x="46661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2391143">
            <a:off x="8412394" y="6164436"/>
            <a:ext cx="921737" cy="921737"/>
          </a:xfrm>
          <a:custGeom>
            <a:avLst/>
            <a:gdLst/>
            <a:ahLst/>
            <a:cxnLst/>
            <a:rect r="r" b="b" t="t" l="l"/>
            <a:pathLst>
              <a:path h="921737" w="921737">
                <a:moveTo>
                  <a:pt x="0" y="0"/>
                </a:moveTo>
                <a:lnTo>
                  <a:pt x="921737" y="0"/>
                </a:lnTo>
                <a:lnTo>
                  <a:pt x="921737" y="921737"/>
                </a:lnTo>
                <a:lnTo>
                  <a:pt x="0" y="921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8737" y="5748915"/>
            <a:ext cx="5950178" cy="4114800"/>
          </a:xfrm>
          <a:custGeom>
            <a:avLst/>
            <a:gdLst/>
            <a:ahLst/>
            <a:cxnLst/>
            <a:rect r="r" b="b" t="t" l="l"/>
            <a:pathLst>
              <a:path h="4114800" w="5950178">
                <a:moveTo>
                  <a:pt x="0" y="0"/>
                </a:moveTo>
                <a:lnTo>
                  <a:pt x="5950178" y="0"/>
                </a:lnTo>
                <a:lnTo>
                  <a:pt x="59501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81087" y="2428516"/>
            <a:ext cx="6278221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Th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86018" y="1494481"/>
            <a:ext cx="8430515" cy="690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69" indent="-303585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Ka</a:t>
            </a: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lam CX runs support for many client companies, thousands of calls a day</a:t>
            </a:r>
          </a:p>
          <a:p>
            <a:pPr algn="l" marL="607169" indent="-303585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After every call, the agent manually writes the CRM entry: what happened, what was done, the category, the follow-ups</a:t>
            </a:r>
          </a:p>
          <a:p>
            <a:pPr algn="l" marL="607169" indent="-303585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That write-up keeps agents off the next call — it's pure overhead</a:t>
            </a:r>
          </a:p>
          <a:p>
            <a:pPr algn="l" marL="607169" indent="-303585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And it's inconsistent: some notes are thin, some miss the point, some are miscategorized</a:t>
            </a:r>
          </a:p>
          <a:p>
            <a:pPr algn="l" marL="607169" indent="-303585" lvl="1">
              <a:lnSpc>
                <a:spcPts val="3937"/>
              </a:lnSpc>
              <a:buFont typeface="Arial"/>
              <a:buChar char="•"/>
            </a:pPr>
            <a:r>
              <a:rPr lang="en-US" sz="28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Result: supervisors can't trust the data, can't see real trends, and the whole operation is more expensive than it should be</a:t>
            </a:r>
          </a:p>
          <a:p>
            <a:pPr algn="l">
              <a:lnSpc>
                <a:spcPts val="393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78156" y="3972836"/>
            <a:ext cx="768408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Every call ends the same way — an agent, al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one, writing up what just happened.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-2188795">
            <a:off x="-825449" y="8310856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303778" y="5143500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10004087">
            <a:off x="17165958" y="897964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888737" y="643268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8460507" y="87988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9"/>
                </a:lnTo>
                <a:lnTo>
                  <a:pt x="825511" y="830039"/>
                </a:lnTo>
                <a:lnTo>
                  <a:pt x="8255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711950" y="8671445"/>
            <a:ext cx="69632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call gets solved. The record of it doesn't.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1601" y="1507371"/>
            <a:ext cx="8580225" cy="3533613"/>
            <a:chOff x="0" y="0"/>
            <a:chExt cx="1329301" cy="54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9301" cy="547449"/>
            </a:xfrm>
            <a:custGeom>
              <a:avLst/>
              <a:gdLst/>
              <a:ahLst/>
              <a:cxnLst/>
              <a:rect r="r" b="b" t="t" l="l"/>
              <a:pathLst>
                <a:path h="547449" w="1329301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31601" y="5460092"/>
            <a:ext cx="8580225" cy="3533613"/>
            <a:chOff x="0" y="0"/>
            <a:chExt cx="1329301" cy="5474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9301" cy="547449"/>
            </a:xfrm>
            <a:custGeom>
              <a:avLst/>
              <a:gdLst/>
              <a:ahLst/>
              <a:cxnLst/>
              <a:rect r="r" b="b" t="t" l="l"/>
              <a:pathLst>
                <a:path h="547449" w="1329301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582927" y="2635374"/>
            <a:ext cx="6877574" cy="5649436"/>
          </a:xfrm>
          <a:custGeom>
            <a:avLst/>
            <a:gdLst/>
            <a:ahLst/>
            <a:cxnLst/>
            <a:rect r="r" b="b" t="t" l="l"/>
            <a:pathLst>
              <a:path h="5649436" w="6877574">
                <a:moveTo>
                  <a:pt x="0" y="0"/>
                </a:moveTo>
                <a:lnTo>
                  <a:pt x="6877574" y="0"/>
                </a:lnTo>
                <a:lnTo>
                  <a:pt x="6877574" y="5649436"/>
                </a:lnTo>
                <a:lnTo>
                  <a:pt x="0" y="5649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0250" y="303309"/>
            <a:ext cx="382332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The Product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9692" y="3382330"/>
            <a:ext cx="8161910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Reads the transcript and works out: what the cust</a:t>
            </a: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omer wanted, what was done, how they felt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Looks up the customer record — account, tier, prior open tickets — to catch repeat contacts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Searches the documentation handbook for the right category, disposition, and rules — never guesses from memory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Writes a structured, complete record grounded only in what was actually said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Routes anything uncertain, sensitive, or serious straight to a human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 person approves every record before it's ever saved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5469" y="2416178"/>
            <a:ext cx="720964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 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engine that documents the call the way a great agent would — every time.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2188795">
            <a:off x="-1039289" y="3776224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77663" y="9288550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10004087">
            <a:off x="13096215" y="8150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7542950" y="5816589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360988" y="870000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004087">
            <a:off x="6844517" y="980147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55166" y="9210675"/>
            <a:ext cx="862249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This isn't an AI that replaces the agent's judgment. It's an AI that never gets to skip the judgment.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2045571" y="2541866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1"/>
                </a:lnTo>
                <a:lnTo>
                  <a:pt x="0" y="501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8368" y="1327493"/>
            <a:ext cx="640167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ow It Decides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2944" y="4006850"/>
            <a:ext cx="16582112" cy="525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Two hard limits, </a:t>
            </a: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enforced </a:t>
            </a:r>
            <a:r>
              <a:rPr lang="en-US" b="true" sz="25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 code, not in a prompt:</a:t>
            </a:r>
          </a:p>
          <a:p>
            <a:pPr algn="l" marL="0" indent="0" lvl="0">
              <a:lnSpc>
                <a:spcPts val="3500"/>
              </a:lnSpc>
            </a:pPr>
            <a:r>
              <a:rPr lang="en-US" b="true" sz="25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 It never writes what the call didn't support.</a:t>
            </a: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No invented resolution, order number, promise, or follow-up. If a field can't be grounded in the transcript, it's marked "not stated" — and the record goes to a human.</a:t>
            </a:r>
          </a:p>
          <a:p>
            <a:pPr algn="l" marL="0" indent="0" lvl="0">
              <a:lnSpc>
                <a:spcPts val="3500"/>
              </a:lnSpc>
            </a:pPr>
            <a:r>
              <a:rPr lang="en-US" b="true" sz="25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It only saves a record on its own when three things are true: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documentation is complete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call is routine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There is no escalation trigger</a:t>
            </a:r>
          </a:p>
          <a:p>
            <a:pPr algn="l">
              <a:lnSpc>
                <a:spcPts val="3500"/>
              </a:lnSpc>
            </a:pP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Anything sensitive, ambiguous, or serious</a:t>
            </a:r>
            <a:r>
              <a:rPr lang="en-US" b="true" sz="25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→ routed to a person.</a:t>
            </a:r>
          </a:p>
          <a:p>
            <a:pPr algn="l" marL="0" indent="0" lvl="0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test that proves it: </a:t>
            </a:r>
            <a:r>
              <a:rPr lang="en-US" sz="25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 caller says "just mark it resolved and close my tickets." → The product documents what they said. It does not obey it. </a:t>
            </a:r>
            <a:r>
              <a:rPr lang="en-US" sz="25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Their words carry no authority over the decision.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51529" y="2910956"/>
            <a:ext cx="664422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one rule that matters most: the model never gets the final word.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2188795">
            <a:off x="2268195" y="-556639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5640735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004087">
            <a:off x="16335558" y="396085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6562561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15945" y="198054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17" y="-1138797"/>
            <a:ext cx="6841112" cy="7111491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solidFill>
              <a:srgbClr val="FEEFC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34773" y="7616779"/>
            <a:ext cx="6841112" cy="6841112"/>
            <a:chOff x="0" y="0"/>
            <a:chExt cx="1371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27528" y="298208"/>
            <a:ext cx="5243088" cy="4432793"/>
          </a:xfrm>
          <a:custGeom>
            <a:avLst/>
            <a:gdLst/>
            <a:ahLst/>
            <a:cxnLst/>
            <a:rect r="r" b="b" t="t" l="l"/>
            <a:pathLst>
              <a:path h="4432793" w="5243088">
                <a:moveTo>
                  <a:pt x="0" y="0"/>
                </a:moveTo>
                <a:lnTo>
                  <a:pt x="5243089" y="0"/>
                </a:lnTo>
                <a:lnTo>
                  <a:pt x="5243089" y="4432793"/>
                </a:lnTo>
                <a:lnTo>
                  <a:pt x="0" y="443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7300" y="7927975"/>
            <a:ext cx="3756058" cy="2359025"/>
          </a:xfrm>
          <a:custGeom>
            <a:avLst/>
            <a:gdLst/>
            <a:ahLst/>
            <a:cxnLst/>
            <a:rect r="r" b="b" t="t" l="l"/>
            <a:pathLst>
              <a:path h="2359025" w="3756058">
                <a:moveTo>
                  <a:pt x="0" y="0"/>
                </a:moveTo>
                <a:lnTo>
                  <a:pt x="3756058" y="0"/>
                </a:lnTo>
                <a:lnTo>
                  <a:pt x="3756058" y="2359025"/>
                </a:lnTo>
                <a:lnTo>
                  <a:pt x="0" y="235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55840" y="165027"/>
            <a:ext cx="6529561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System Archi</a:t>
            </a: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2369324"/>
            <a:ext cx="83096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Four stages, one guardrail running thr</a:t>
            </a: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ough all of them.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61228" y="3346589"/>
            <a:ext cx="933396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Walk through as a left-t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o-right flow diagram: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Intake → Documentation Engine (guarded) → Review Screen (human-in-the-loop) → Store / Operational Summary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-2188795">
            <a:off x="-233216" y="-66140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97805" y="1765980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9"/>
                </a:lnTo>
                <a:lnTo>
                  <a:pt x="0" y="830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215766">
            <a:off x="15228406" y="-634868"/>
            <a:ext cx="1353694" cy="1596598"/>
          </a:xfrm>
          <a:custGeom>
            <a:avLst/>
            <a:gdLst/>
            <a:ahLst/>
            <a:cxnLst/>
            <a:rect r="r" b="b" t="t" l="l"/>
            <a:pathLst>
              <a:path h="1596598" w="1353694">
                <a:moveTo>
                  <a:pt x="1353694" y="0"/>
                </a:moveTo>
                <a:lnTo>
                  <a:pt x="0" y="0"/>
                </a:lnTo>
                <a:lnTo>
                  <a:pt x="0" y="1596598"/>
                </a:lnTo>
                <a:lnTo>
                  <a:pt x="1353694" y="1596598"/>
                </a:lnTo>
                <a:lnTo>
                  <a:pt x="135369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6842692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7648473" y="8538105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38440" y="5095875"/>
            <a:ext cx="900625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Intake: 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transcript comes in, parsed into what the customer wanted / what was done / sentiment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34861" y="6125470"/>
            <a:ext cx="1045054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Documentation Engine: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customer lookup + handbook retrieval (RAG over ~40 handbook clauses) + structured record generation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74419" y="7150360"/>
            <a:ext cx="99792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Guardrail Layer: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auto-save gate + "not stated" rule — lives outside the model, in your own code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55731" y="8175250"/>
            <a:ext cx="906758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Review Screen: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human approves, edits, or overrides before anything is saved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8453" y="9200140"/>
            <a:ext cx="728516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Store: 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your own record store (not a live CRM) + counts/summary 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92244">
            <a:off x="10201440" y="9075394"/>
            <a:ext cx="921737" cy="921737"/>
          </a:xfrm>
          <a:custGeom>
            <a:avLst/>
            <a:gdLst/>
            <a:ahLst/>
            <a:cxnLst/>
            <a:rect r="r" b="b" t="t" l="l"/>
            <a:pathLst>
              <a:path h="921737" w="921737">
                <a:moveTo>
                  <a:pt x="0" y="0"/>
                </a:moveTo>
                <a:lnTo>
                  <a:pt x="921737" y="0"/>
                </a:lnTo>
                <a:lnTo>
                  <a:pt x="921737" y="921737"/>
                </a:lnTo>
                <a:lnTo>
                  <a:pt x="0" y="921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7152" y="719145"/>
            <a:ext cx="6278221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ta Schema (ERD)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2188795">
            <a:off x="-825449" y="8310856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62489" y="928442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004087">
            <a:off x="17463586" y="10626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72159" y="1049219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2"/>
                </a:lnTo>
                <a:lnTo>
                  <a:pt x="1104993" y="1303272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655373" y="204178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383654" y="0"/>
            <a:ext cx="9078835" cy="10417480"/>
            <a:chOff x="0" y="0"/>
            <a:chExt cx="1907661" cy="21889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7660" cy="2188939"/>
            </a:xfrm>
            <a:custGeom>
              <a:avLst/>
              <a:gdLst/>
              <a:ahLst/>
              <a:cxnLst/>
              <a:rect r="r" b="b" t="t" l="l"/>
              <a:pathLst>
                <a:path h="2188939" w="1907660">
                  <a:moveTo>
                    <a:pt x="29846" y="0"/>
                  </a:moveTo>
                  <a:lnTo>
                    <a:pt x="1877814" y="0"/>
                  </a:lnTo>
                  <a:cubicBezTo>
                    <a:pt x="1885730" y="0"/>
                    <a:pt x="1893322" y="3144"/>
                    <a:pt x="1898919" y="8742"/>
                  </a:cubicBezTo>
                  <a:cubicBezTo>
                    <a:pt x="1904516" y="14339"/>
                    <a:pt x="1907660" y="21930"/>
                    <a:pt x="1907660" y="29846"/>
                  </a:cubicBezTo>
                  <a:lnTo>
                    <a:pt x="1907660" y="2159093"/>
                  </a:lnTo>
                  <a:cubicBezTo>
                    <a:pt x="1907660" y="2167008"/>
                    <a:pt x="1904516" y="2174600"/>
                    <a:pt x="1898919" y="2180197"/>
                  </a:cubicBezTo>
                  <a:cubicBezTo>
                    <a:pt x="1893322" y="2185794"/>
                    <a:pt x="1885730" y="2188939"/>
                    <a:pt x="1877814" y="2188939"/>
                  </a:cubicBezTo>
                  <a:lnTo>
                    <a:pt x="29846" y="2188939"/>
                  </a:lnTo>
                  <a:cubicBezTo>
                    <a:pt x="13363" y="2188939"/>
                    <a:pt x="0" y="2175576"/>
                    <a:pt x="0" y="2159093"/>
                  </a:cubicBezTo>
                  <a:lnTo>
                    <a:pt x="0" y="29846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6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88" r="0" b="-28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4589" y="3082615"/>
            <a:ext cx="5036426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What the Platform Stores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110" y="3910163"/>
            <a:ext cx="7668019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14</a:t>
            </a:r>
            <a:r>
              <a:rPr lang="en-US" sz="28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normalized entities · one auditable record per call</a:t>
            </a:r>
          </a:p>
          <a:p>
            <a:pPr algn="l">
              <a:lnSpc>
                <a:spcPts val="4059"/>
              </a:lnSpc>
            </a:pP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Customer → Call → Record → Ticket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Review Log · Handbook Rules · Escalation Rules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655" y="7963223"/>
            <a:ext cx="684276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"Every fact traces back to the transcript,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human, or a business rule — nothing else."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3142" y="0"/>
            <a:ext cx="8178694" cy="8376689"/>
          </a:xfrm>
          <a:custGeom>
            <a:avLst/>
            <a:gdLst/>
            <a:ahLst/>
            <a:cxnLst/>
            <a:rect r="r" b="b" t="t" l="l"/>
            <a:pathLst>
              <a:path h="8376689" w="8178694">
                <a:moveTo>
                  <a:pt x="0" y="0"/>
                </a:moveTo>
                <a:lnTo>
                  <a:pt x="8178694" y="0"/>
                </a:lnTo>
                <a:lnTo>
                  <a:pt x="8178694" y="8376689"/>
                </a:lnTo>
                <a:lnTo>
                  <a:pt x="0" y="837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8993"/>
            <a:ext cx="7397197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Live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Demo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Part 1:  Clean Call / Auto-Saved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2188795">
            <a:off x="2268195" y="-556639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88037" y="431346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004087">
            <a:off x="16988560" y="9200916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6562561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267788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9"/>
                </a:lnTo>
                <a:lnTo>
                  <a:pt x="825511" y="830039"/>
                </a:lnTo>
                <a:lnTo>
                  <a:pt x="82551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972092"/>
            <a:ext cx="13711576" cy="5561758"/>
          </a:xfrm>
          <a:custGeom>
            <a:avLst/>
            <a:gdLst/>
            <a:ahLst/>
            <a:cxnLst/>
            <a:rect r="r" b="b" t="t" l="l"/>
            <a:pathLst>
              <a:path h="5561758" w="13711576">
                <a:moveTo>
                  <a:pt x="0" y="0"/>
                </a:moveTo>
                <a:lnTo>
                  <a:pt x="13711576" y="0"/>
                </a:lnTo>
                <a:lnTo>
                  <a:pt x="13711576" y="5561758"/>
                </a:lnTo>
                <a:lnTo>
                  <a:pt x="0" y="5561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357" y="1314465"/>
            <a:ext cx="6939183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Live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Demo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Part 2:  Hard Call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2188795">
            <a:off x="2268195" y="-556639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48770" y="945696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004087">
            <a:off x="16988560" y="9200916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346101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5143500"/>
            <a:ext cx="10552360" cy="4946419"/>
          </a:xfrm>
          <a:custGeom>
            <a:avLst/>
            <a:gdLst/>
            <a:ahLst/>
            <a:cxnLst/>
            <a:rect r="r" b="b" t="t" l="l"/>
            <a:pathLst>
              <a:path h="4946419" w="10552360">
                <a:moveTo>
                  <a:pt x="0" y="0"/>
                </a:moveTo>
                <a:lnTo>
                  <a:pt x="10552360" y="0"/>
                </a:lnTo>
                <a:lnTo>
                  <a:pt x="10552360" y="4946419"/>
                </a:lnTo>
                <a:lnTo>
                  <a:pt x="0" y="494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562561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09540" y="12788"/>
            <a:ext cx="11078460" cy="5130712"/>
          </a:xfrm>
          <a:custGeom>
            <a:avLst/>
            <a:gdLst/>
            <a:ahLst/>
            <a:cxnLst/>
            <a:rect r="r" b="b" t="t" l="l"/>
            <a:pathLst>
              <a:path h="5130712" w="11078460">
                <a:moveTo>
                  <a:pt x="0" y="0"/>
                </a:moveTo>
                <a:lnTo>
                  <a:pt x="11078460" y="0"/>
                </a:lnTo>
                <a:lnTo>
                  <a:pt x="11078460" y="5130712"/>
                </a:lnTo>
                <a:lnTo>
                  <a:pt x="0" y="51307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14149" y="2859551"/>
            <a:ext cx="6973851" cy="6453639"/>
          </a:xfrm>
          <a:custGeom>
            <a:avLst/>
            <a:gdLst/>
            <a:ahLst/>
            <a:cxnLst/>
            <a:rect r="r" b="b" t="t" l="l"/>
            <a:pathLst>
              <a:path h="6453639" w="6973851">
                <a:moveTo>
                  <a:pt x="0" y="0"/>
                </a:moveTo>
                <a:lnTo>
                  <a:pt x="6973851" y="0"/>
                </a:lnTo>
                <a:lnTo>
                  <a:pt x="6973851" y="6453639"/>
                </a:lnTo>
                <a:lnTo>
                  <a:pt x="0" y="6453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2540" y="7476076"/>
            <a:ext cx="8580225" cy="4186781"/>
            <a:chOff x="0" y="0"/>
            <a:chExt cx="2139087" cy="1043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9086" cy="1043783"/>
            </a:xfrm>
            <a:custGeom>
              <a:avLst/>
              <a:gdLst/>
              <a:ahLst/>
              <a:cxnLst/>
              <a:rect r="r" b="b" t="t" l="l"/>
              <a:pathLst>
                <a:path h="1043783" w="213908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921081"/>
                  </a:lnTo>
                  <a:cubicBezTo>
                    <a:pt x="1" y="988848"/>
                    <a:pt x="54936" y="1043783"/>
                    <a:pt x="122702" y="1043783"/>
                  </a:cubicBezTo>
                  <a:lnTo>
                    <a:pt x="2016383" y="1043783"/>
                  </a:lnTo>
                  <a:cubicBezTo>
                    <a:pt x="2084149" y="1043783"/>
                    <a:pt x="2139085" y="988848"/>
                    <a:pt x="2139086" y="921081"/>
                  </a:cubicBezTo>
                  <a:lnTo>
                    <a:pt x="2139086" y="122701"/>
                  </a:lnTo>
                  <a:cubicBezTo>
                    <a:pt x="2139085" y="54935"/>
                    <a:pt x="2084150" y="1"/>
                    <a:pt x="2016384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2700000">
            <a:off x="502170" y="6378738"/>
            <a:ext cx="921737" cy="921737"/>
          </a:xfrm>
          <a:custGeom>
            <a:avLst/>
            <a:gdLst/>
            <a:ahLst/>
            <a:cxnLst/>
            <a:rect r="r" b="b" t="t" l="l"/>
            <a:pathLst>
              <a:path h="921737" w="921737">
                <a:moveTo>
                  <a:pt x="0" y="0"/>
                </a:moveTo>
                <a:lnTo>
                  <a:pt x="921737" y="0"/>
                </a:lnTo>
                <a:lnTo>
                  <a:pt x="921737" y="921737"/>
                </a:lnTo>
                <a:lnTo>
                  <a:pt x="0" y="921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1744" y="7113627"/>
            <a:ext cx="7315200" cy="3447393"/>
          </a:xfrm>
          <a:custGeom>
            <a:avLst/>
            <a:gdLst/>
            <a:ahLst/>
            <a:cxnLst/>
            <a:rect r="r" b="b" t="t" l="l"/>
            <a:pathLst>
              <a:path h="3447393" w="7315200">
                <a:moveTo>
                  <a:pt x="0" y="0"/>
                </a:moveTo>
                <a:lnTo>
                  <a:pt x="7315200" y="0"/>
                </a:lnTo>
                <a:lnTo>
                  <a:pt x="7315200" y="3447393"/>
                </a:lnTo>
                <a:lnTo>
                  <a:pt x="0" y="3447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1272" y="942466"/>
            <a:ext cx="8974746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Review Screen: The Hu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man in the Loop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-2188795">
            <a:off x="-825449" y="8310856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25327" y="6291045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0004087">
            <a:off x="17165958" y="897964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888737" y="-8368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8668234" y="1295571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35102" y="374640"/>
            <a:ext cx="6942515" cy="4533438"/>
          </a:xfrm>
          <a:custGeom>
            <a:avLst/>
            <a:gdLst/>
            <a:ahLst/>
            <a:cxnLst/>
            <a:rect r="r" b="b" t="t" l="l"/>
            <a:pathLst>
              <a:path h="4533438" w="6942515">
                <a:moveTo>
                  <a:pt x="0" y="0"/>
                </a:moveTo>
                <a:lnTo>
                  <a:pt x="6942514" y="0"/>
                </a:lnTo>
                <a:lnTo>
                  <a:pt x="6942514" y="4533438"/>
                </a:lnTo>
                <a:lnTo>
                  <a:pt x="0" y="4533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50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99783" y="5035094"/>
            <a:ext cx="4573774" cy="5251906"/>
          </a:xfrm>
          <a:custGeom>
            <a:avLst/>
            <a:gdLst/>
            <a:ahLst/>
            <a:cxnLst/>
            <a:rect r="r" b="b" t="t" l="l"/>
            <a:pathLst>
              <a:path h="5251906" w="4573774">
                <a:moveTo>
                  <a:pt x="0" y="0"/>
                </a:moveTo>
                <a:lnTo>
                  <a:pt x="4573774" y="0"/>
                </a:lnTo>
                <a:lnTo>
                  <a:pt x="4573774" y="5251906"/>
                </a:lnTo>
                <a:lnTo>
                  <a:pt x="0" y="5251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43" r="0" b="-24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883660"/>
            <a:ext cx="9177189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Queue view: every</a:t>
            </a:r>
            <a:r>
              <a:rPr lang="en-US" sz="27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call that needs review, with the drafted record + engine's recommendation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Supervisor can approve, edit, or override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Nothing bypasses this — even a "confident" AI draft waits for sign-off when it's flagged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0308" y="2996691"/>
            <a:ext cx="83477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Nothin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 that needs a person gets saved without one.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6396" y="724581"/>
            <a:ext cx="11161604" cy="4596709"/>
            <a:chOff x="0" y="0"/>
            <a:chExt cx="1329301" cy="54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9301" cy="547449"/>
            </a:xfrm>
            <a:custGeom>
              <a:avLst/>
              <a:gdLst/>
              <a:ahLst/>
              <a:cxnLst/>
              <a:rect r="r" b="b" t="t" l="l"/>
              <a:pathLst>
                <a:path h="547449" w="1329301">
                  <a:moveTo>
                    <a:pt x="24277" y="0"/>
                  </a:moveTo>
                  <a:lnTo>
                    <a:pt x="1305025" y="0"/>
                  </a:lnTo>
                  <a:cubicBezTo>
                    <a:pt x="1318432" y="0"/>
                    <a:pt x="1329301" y="10869"/>
                    <a:pt x="1329301" y="24277"/>
                  </a:cubicBezTo>
                  <a:lnTo>
                    <a:pt x="1329301" y="523172"/>
                  </a:lnTo>
                  <a:cubicBezTo>
                    <a:pt x="1329301" y="536580"/>
                    <a:pt x="1318432" y="547449"/>
                    <a:pt x="1305025" y="547449"/>
                  </a:cubicBezTo>
                  <a:lnTo>
                    <a:pt x="24277" y="547449"/>
                  </a:lnTo>
                  <a:cubicBezTo>
                    <a:pt x="10869" y="547449"/>
                    <a:pt x="0" y="536580"/>
                    <a:pt x="0" y="523172"/>
                  </a:cubicBezTo>
                  <a:lnTo>
                    <a:pt x="0" y="24277"/>
                  </a:lnTo>
                  <a:cubicBezTo>
                    <a:pt x="0" y="10869"/>
                    <a:pt x="10869" y="0"/>
                    <a:pt x="24277" y="0"/>
                  </a:cubicBezTo>
                  <a:close/>
                </a:path>
              </a:pathLst>
            </a:custGeom>
            <a:blipFill>
              <a:blip r:embed="rId2"/>
              <a:stretch>
                <a:fillRect l="-765" t="0" r="-76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02080" y="6543181"/>
            <a:ext cx="8580225" cy="3533613"/>
            <a:chOff x="0" y="0"/>
            <a:chExt cx="1329301" cy="5474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9301" cy="547449"/>
            </a:xfrm>
            <a:custGeom>
              <a:avLst/>
              <a:gdLst/>
              <a:ahLst/>
              <a:cxnLst/>
              <a:rect r="r" b="b" t="t" l="l"/>
              <a:pathLst>
                <a:path h="547449" w="1329301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15869"/>
                  </a:lnTo>
                  <a:cubicBezTo>
                    <a:pt x="1329301" y="533310"/>
                    <a:pt x="1315162" y="547449"/>
                    <a:pt x="1297721" y="547449"/>
                  </a:cubicBezTo>
                  <a:lnTo>
                    <a:pt x="31580" y="547449"/>
                  </a:lnTo>
                  <a:cubicBezTo>
                    <a:pt x="14139" y="547449"/>
                    <a:pt x="0" y="533310"/>
                    <a:pt x="0" y="515869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97650" y="5143500"/>
            <a:ext cx="6877574" cy="5649436"/>
          </a:xfrm>
          <a:custGeom>
            <a:avLst/>
            <a:gdLst/>
            <a:ahLst/>
            <a:cxnLst/>
            <a:rect r="r" b="b" t="t" l="l"/>
            <a:pathLst>
              <a:path h="5649436" w="6877574">
                <a:moveTo>
                  <a:pt x="0" y="0"/>
                </a:moveTo>
                <a:lnTo>
                  <a:pt x="6877574" y="0"/>
                </a:lnTo>
                <a:lnTo>
                  <a:pt x="6877574" y="5649436"/>
                </a:lnTo>
                <a:lnTo>
                  <a:pt x="0" y="5649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4560" y="528930"/>
            <a:ext cx="510777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Operat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ional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4560" y="3700540"/>
            <a:ext cx="6766257" cy="199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371" indent="-308185" lvl="1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5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otal calls processed: 27</a:t>
            </a:r>
          </a:p>
          <a:p>
            <a:pPr algn="l" marL="616371" indent="-308185" lvl="1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Auto-saved: 12 | Routed to review: 5 | Escalated: 9 | Non-interactions: 1</a:t>
            </a:r>
          </a:p>
          <a:p>
            <a:pPr algn="l" marL="616371" indent="-308185" lvl="1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Breakdown by category / sentiment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7473" y="2761375"/>
            <a:ext cx="53043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hat supervisors actually see.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2188795">
            <a:off x="-800515" y="6980701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3794" y="839780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9"/>
                </a:lnTo>
                <a:lnTo>
                  <a:pt x="0" y="830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10004087">
            <a:off x="13096215" y="8150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7542950" y="5816589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746325" y="1400333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004087">
            <a:off x="6844517" y="9801474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20972" r="-676614" b="-214027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2135" y="1862371"/>
            <a:ext cx="7113447" cy="3967426"/>
            <a:chOff x="0" y="0"/>
            <a:chExt cx="1102059" cy="614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2059" cy="614658"/>
            </a:xfrm>
            <a:custGeom>
              <a:avLst/>
              <a:gdLst/>
              <a:ahLst/>
              <a:cxnLst/>
              <a:rect r="r" b="b" t="t" l="l"/>
              <a:pathLst>
                <a:path h="614658" w="1102059">
                  <a:moveTo>
                    <a:pt x="38092" y="0"/>
                  </a:moveTo>
                  <a:lnTo>
                    <a:pt x="1063967" y="0"/>
                  </a:lnTo>
                  <a:cubicBezTo>
                    <a:pt x="1085005" y="0"/>
                    <a:pt x="1102059" y="17054"/>
                    <a:pt x="1102059" y="38092"/>
                  </a:cubicBezTo>
                  <a:lnTo>
                    <a:pt x="1102059" y="576566"/>
                  </a:lnTo>
                  <a:cubicBezTo>
                    <a:pt x="1102059" y="586668"/>
                    <a:pt x="1098046" y="596357"/>
                    <a:pt x="1090902" y="603501"/>
                  </a:cubicBezTo>
                  <a:cubicBezTo>
                    <a:pt x="1083758" y="610645"/>
                    <a:pt x="1074070" y="614658"/>
                    <a:pt x="1063967" y="614658"/>
                  </a:cubicBezTo>
                  <a:lnTo>
                    <a:pt x="38092" y="614658"/>
                  </a:lnTo>
                  <a:cubicBezTo>
                    <a:pt x="27990" y="614658"/>
                    <a:pt x="18301" y="610645"/>
                    <a:pt x="11157" y="603501"/>
                  </a:cubicBezTo>
                  <a:cubicBezTo>
                    <a:pt x="4013" y="596357"/>
                    <a:pt x="0" y="586668"/>
                    <a:pt x="0" y="576566"/>
                  </a:cubicBezTo>
                  <a:lnTo>
                    <a:pt x="0" y="38092"/>
                  </a:lnTo>
                  <a:cubicBezTo>
                    <a:pt x="0" y="27990"/>
                    <a:pt x="4013" y="18301"/>
                    <a:pt x="11157" y="11157"/>
                  </a:cubicBezTo>
                  <a:cubicBezTo>
                    <a:pt x="18301" y="4013"/>
                    <a:pt x="27990" y="0"/>
                    <a:pt x="38092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079499" y="8107896"/>
            <a:ext cx="742385" cy="742385"/>
          </a:xfrm>
          <a:custGeom>
            <a:avLst/>
            <a:gdLst/>
            <a:ahLst/>
            <a:cxnLst/>
            <a:rect r="r" b="b" t="t" l="l"/>
            <a:pathLst>
              <a:path h="742385" w="742385">
                <a:moveTo>
                  <a:pt x="0" y="0"/>
                </a:moveTo>
                <a:lnTo>
                  <a:pt x="742385" y="0"/>
                </a:lnTo>
                <a:lnTo>
                  <a:pt x="742385" y="742385"/>
                </a:lnTo>
                <a:lnTo>
                  <a:pt x="0" y="742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33036" y="3319268"/>
            <a:ext cx="4371645" cy="2510528"/>
          </a:xfrm>
          <a:custGeom>
            <a:avLst/>
            <a:gdLst/>
            <a:ahLst/>
            <a:cxnLst/>
            <a:rect r="r" b="b" t="t" l="l"/>
            <a:pathLst>
              <a:path h="2510528" w="4371645">
                <a:moveTo>
                  <a:pt x="0" y="0"/>
                </a:moveTo>
                <a:lnTo>
                  <a:pt x="4371645" y="0"/>
                </a:lnTo>
                <a:lnTo>
                  <a:pt x="4371645" y="2510528"/>
                </a:lnTo>
                <a:lnTo>
                  <a:pt x="0" y="251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8283" y="556606"/>
            <a:ext cx="8306483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Eva</a:t>
            </a: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luation: 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Is It Actually Right?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350" y="3436040"/>
            <a:ext cx="8422148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20"/>
              </a:lnSpc>
            </a:pP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Cal</a:t>
            </a: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ls tested: 27</a:t>
            </a:r>
          </a:p>
          <a:p>
            <a:pPr algn="just" marL="0" indent="0" lvl="0">
              <a:lnSpc>
                <a:spcPts val="5320"/>
              </a:lnSpc>
            </a:pP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Correct outcome: 25/27</a:t>
            </a:r>
          </a:p>
          <a:p>
            <a:pPr algn="just" marL="0" indent="0" lvl="0">
              <a:lnSpc>
                <a:spcPts val="5320"/>
              </a:lnSpc>
            </a:pP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Correct process: 26/27</a:t>
            </a:r>
          </a:p>
          <a:p>
            <a:pPr algn="just" marL="0" indent="0" lvl="0">
              <a:lnSpc>
                <a:spcPts val="5320"/>
              </a:lnSpc>
            </a:pP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Escalations correctly caught: 9/9</a:t>
            </a:r>
          </a:p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False auto-saves: 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8744" y="2635857"/>
            <a:ext cx="80852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Tested </a:t>
            </a: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against 27 real calls, judged two ways.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6529614">
            <a:off x="15245992" y="-626207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24008" y="1235606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10004087">
            <a:off x="16438677" y="7055340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2707892" y="9258300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475259" y="7045829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02239" y="7040511"/>
            <a:ext cx="10555658" cy="273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  <a:spcBef>
                <a:spcPct val="0"/>
              </a:spcBef>
            </a:pPr>
            <a:r>
              <a:rPr lang="en-US" sz="3062" spc="-16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What passed: "All 9 escalation and sensitive calls were correctly routed to a human, with zero false auto-saves — the guardrail held on every test case."</a:t>
            </a:r>
          </a:p>
          <a:p>
            <a:pPr algn="l">
              <a:lnSpc>
                <a:spcPts val="3062"/>
              </a:lnSpc>
              <a:spcBef>
                <a:spcPct val="0"/>
              </a:spcBef>
            </a:pPr>
          </a:p>
          <a:p>
            <a:pPr algn="l">
              <a:lnSpc>
                <a:spcPts val="3062"/>
              </a:lnSpc>
              <a:spcBef>
                <a:spcPct val="0"/>
              </a:spcBef>
            </a:pPr>
            <a:r>
              <a:rPr lang="en-US" sz="3062" spc="-16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What failed / what I'd fix: "Category classification missed on 2 calls with overlapping billing/refund language — I'd add a clarifying handbook clause to disambiguate that pair."</a:t>
            </a:r>
          </a:p>
        </p:txBody>
      </p:sp>
      <p:sp>
        <p:nvSpPr>
          <p:cNvPr name="AutoShape 15" id="15"/>
          <p:cNvSpPr/>
          <p:nvPr/>
        </p:nvSpPr>
        <p:spPr>
          <a:xfrm>
            <a:off x="2918191" y="690589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04914" y="1318202"/>
            <a:ext cx="6967636" cy="1719182"/>
            <a:chOff x="0" y="0"/>
            <a:chExt cx="1835097" cy="45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56250" y="4045462"/>
            <a:ext cx="6967636" cy="1719182"/>
            <a:chOff x="0" y="0"/>
            <a:chExt cx="1835097" cy="4527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04914" y="3424318"/>
            <a:ext cx="6967636" cy="1719182"/>
            <a:chOff x="0" y="0"/>
            <a:chExt cx="1835097" cy="4527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E5326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04914" y="6181725"/>
            <a:ext cx="7799503" cy="3097481"/>
            <a:chOff x="0" y="0"/>
            <a:chExt cx="1321798" cy="5249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1798" cy="524937"/>
            </a:xfrm>
            <a:custGeom>
              <a:avLst/>
              <a:gdLst/>
              <a:ahLst/>
              <a:cxnLst/>
              <a:rect r="r" b="b" t="t" l="l"/>
              <a:pathLst>
                <a:path h="524937" w="1321798">
                  <a:moveTo>
                    <a:pt x="43675" y="0"/>
                  </a:moveTo>
                  <a:lnTo>
                    <a:pt x="1278123" y="0"/>
                  </a:lnTo>
                  <a:cubicBezTo>
                    <a:pt x="1302244" y="0"/>
                    <a:pt x="1321798" y="19554"/>
                    <a:pt x="1321798" y="43675"/>
                  </a:cubicBezTo>
                  <a:lnTo>
                    <a:pt x="1321798" y="481261"/>
                  </a:lnTo>
                  <a:cubicBezTo>
                    <a:pt x="1321798" y="505383"/>
                    <a:pt x="1302244" y="524937"/>
                    <a:pt x="1278123" y="524937"/>
                  </a:cubicBezTo>
                  <a:lnTo>
                    <a:pt x="43675" y="524937"/>
                  </a:lnTo>
                  <a:cubicBezTo>
                    <a:pt x="19554" y="524937"/>
                    <a:pt x="0" y="505383"/>
                    <a:pt x="0" y="481261"/>
                  </a:cubicBezTo>
                  <a:lnTo>
                    <a:pt x="0" y="43675"/>
                  </a:lnTo>
                  <a:cubicBezTo>
                    <a:pt x="0" y="19554"/>
                    <a:pt x="19554" y="0"/>
                    <a:pt x="43675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374282" y="4045462"/>
            <a:ext cx="476894" cy="476894"/>
          </a:xfrm>
          <a:custGeom>
            <a:avLst/>
            <a:gdLst/>
            <a:ahLst/>
            <a:cxnLst/>
            <a:rect r="r" b="b" t="t" l="l"/>
            <a:pathLst>
              <a:path h="476894" w="476894">
                <a:moveTo>
                  <a:pt x="0" y="0"/>
                </a:moveTo>
                <a:lnTo>
                  <a:pt x="476894" y="0"/>
                </a:lnTo>
                <a:lnTo>
                  <a:pt x="476894" y="476894"/>
                </a:lnTo>
                <a:lnTo>
                  <a:pt x="0" y="47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19901" y="4633073"/>
            <a:ext cx="476894" cy="476894"/>
          </a:xfrm>
          <a:custGeom>
            <a:avLst/>
            <a:gdLst/>
            <a:ahLst/>
            <a:cxnLst/>
            <a:rect r="r" b="b" t="t" l="l"/>
            <a:pathLst>
              <a:path h="476894" w="476894">
                <a:moveTo>
                  <a:pt x="0" y="0"/>
                </a:moveTo>
                <a:lnTo>
                  <a:pt x="476894" y="0"/>
                </a:lnTo>
                <a:lnTo>
                  <a:pt x="476894" y="476893"/>
                </a:lnTo>
                <a:lnTo>
                  <a:pt x="0" y="476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74282" y="1905813"/>
            <a:ext cx="476894" cy="476894"/>
          </a:xfrm>
          <a:custGeom>
            <a:avLst/>
            <a:gdLst/>
            <a:ahLst/>
            <a:cxnLst/>
            <a:rect r="r" b="b" t="t" l="l"/>
            <a:pathLst>
              <a:path h="476894" w="476894">
                <a:moveTo>
                  <a:pt x="0" y="0"/>
                </a:moveTo>
                <a:lnTo>
                  <a:pt x="476894" y="0"/>
                </a:lnTo>
                <a:lnTo>
                  <a:pt x="476894" y="476893"/>
                </a:lnTo>
                <a:lnTo>
                  <a:pt x="0" y="476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123963" y="5430508"/>
            <a:ext cx="5835675" cy="3724275"/>
          </a:xfrm>
          <a:custGeom>
            <a:avLst/>
            <a:gdLst/>
            <a:ahLst/>
            <a:cxnLst/>
            <a:rect r="r" b="b" t="t" l="l"/>
            <a:pathLst>
              <a:path h="3724275" w="5835675">
                <a:moveTo>
                  <a:pt x="0" y="0"/>
                </a:moveTo>
                <a:lnTo>
                  <a:pt x="5835675" y="0"/>
                </a:lnTo>
                <a:lnTo>
                  <a:pt x="5835675" y="3724275"/>
                </a:lnTo>
                <a:lnTo>
                  <a:pt x="0" y="3724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93629" y="254814"/>
            <a:ext cx="7537478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Design First: PRD, Architecture, Schema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-2188795">
            <a:off x="14057159" y="9082842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45592" y="812268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004087">
            <a:off x="16847641" y="832676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336462" y="6819412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2"/>
                </a:lnTo>
                <a:lnTo>
                  <a:pt x="1104993" y="1303272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615945" y="2016963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80437" y="6590356"/>
            <a:ext cx="1947347" cy="1947347"/>
          </a:xfrm>
          <a:custGeom>
            <a:avLst/>
            <a:gdLst/>
            <a:ahLst/>
            <a:cxnLst/>
            <a:rect r="r" b="b" t="t" l="l"/>
            <a:pathLst>
              <a:path h="1947347" w="1947347">
                <a:moveTo>
                  <a:pt x="0" y="0"/>
                </a:moveTo>
                <a:lnTo>
                  <a:pt x="1947347" y="0"/>
                </a:lnTo>
                <a:lnTo>
                  <a:pt x="1947347" y="1947347"/>
                </a:lnTo>
                <a:lnTo>
                  <a:pt x="0" y="19473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89623" y="1620581"/>
            <a:ext cx="579374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PRD: the goal, who uses it, what "done" looks like —</a:t>
            </a: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 plain language, 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 tech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6877" y="4500044"/>
            <a:ext cx="521855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Data</a:t>
            </a: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 Schema: what gets </a:t>
            </a: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stored, and how it relates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89623" y="3912434"/>
            <a:ext cx="54840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System </a:t>
            </a:r>
            <a:r>
              <a:rPr lang="en-US" sz="24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Architecture: how a call actually flows through the product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44693" y="3018553"/>
            <a:ext cx="72266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Built from three documents before</a:t>
            </a:r>
            <a:r>
              <a:rPr lang="en-US" sz="2400" strike="noStrike" u="none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a line of code.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14028" y="8699992"/>
            <a:ext cx="608016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“Full documents in the GitHub repo”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0208" y="2870738"/>
            <a:ext cx="7143019" cy="5738405"/>
            <a:chOff x="0" y="0"/>
            <a:chExt cx="1106640" cy="889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640" cy="889029"/>
            </a:xfrm>
            <a:custGeom>
              <a:avLst/>
              <a:gdLst/>
              <a:ahLst/>
              <a:cxnLst/>
              <a:rect r="r" b="b" t="t" l="l"/>
              <a:pathLst>
                <a:path h="889029" w="1106640">
                  <a:moveTo>
                    <a:pt x="37935" y="0"/>
                  </a:moveTo>
                  <a:lnTo>
                    <a:pt x="1068706" y="0"/>
                  </a:lnTo>
                  <a:cubicBezTo>
                    <a:pt x="1089657" y="0"/>
                    <a:pt x="1106640" y="16984"/>
                    <a:pt x="1106640" y="37935"/>
                  </a:cubicBezTo>
                  <a:lnTo>
                    <a:pt x="1106640" y="851095"/>
                  </a:lnTo>
                  <a:cubicBezTo>
                    <a:pt x="1106640" y="872045"/>
                    <a:pt x="1089657" y="889029"/>
                    <a:pt x="1068706" y="889029"/>
                  </a:cubicBezTo>
                  <a:lnTo>
                    <a:pt x="37935" y="889029"/>
                  </a:lnTo>
                  <a:cubicBezTo>
                    <a:pt x="16984" y="889029"/>
                    <a:pt x="0" y="872045"/>
                    <a:pt x="0" y="851095"/>
                  </a:cubicBezTo>
                  <a:lnTo>
                    <a:pt x="0" y="37935"/>
                  </a:lnTo>
                  <a:cubicBezTo>
                    <a:pt x="0" y="16984"/>
                    <a:pt x="16984" y="0"/>
                    <a:pt x="37935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745210" y="3064460"/>
            <a:ext cx="4617208" cy="5544683"/>
          </a:xfrm>
          <a:custGeom>
            <a:avLst/>
            <a:gdLst/>
            <a:ahLst/>
            <a:cxnLst/>
            <a:rect r="r" b="b" t="t" l="l"/>
            <a:pathLst>
              <a:path h="5544683" w="4617208">
                <a:moveTo>
                  <a:pt x="0" y="0"/>
                </a:moveTo>
                <a:lnTo>
                  <a:pt x="4617209" y="0"/>
                </a:lnTo>
                <a:lnTo>
                  <a:pt x="4617209" y="5544683"/>
                </a:lnTo>
                <a:lnTo>
                  <a:pt x="0" y="554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497" y="516187"/>
            <a:ext cx="4833220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Tech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3468" y="2723220"/>
            <a:ext cx="12596101" cy="684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Frontend / Dashboard: </a:t>
            </a:r>
            <a:r>
              <a:rPr lang="en-US" sz="2599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Streamlit + Matplotlib (charts)</a:t>
            </a:r>
          </a:p>
          <a:p>
            <a:pPr algn="l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Engine / Orchestration: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Python + Google Gemini (g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oogle-generativeai)</a:t>
            </a:r>
          </a:p>
          <a:p>
            <a:pPr algn="l" marL="0" indent="0" lvl="0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Retrieval: RAG pipeline —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LangChain + ChromaDB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(vector search over the handbook, not keyword matching or memory)</a:t>
            </a:r>
          </a:p>
          <a:p>
            <a:pPr algn="l" marL="0" indent="0" lvl="0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Evaluation: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RapidFuzz</a:t>
            </a: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(fuzzy-matching test outputs against expected records)</a:t>
            </a:r>
          </a:p>
          <a:p>
            <a:pPr algn="l" marL="0" indent="0" lvl="0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Configuration: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python-dotenv</a:t>
            </a: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(environment/API key management)</a:t>
            </a:r>
          </a:p>
          <a:p>
            <a:pPr algn="l" marL="0" indent="0" lvl="0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Testing: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Pytest</a:t>
            </a:r>
          </a:p>
          <a:p>
            <a:pPr algn="l" marL="0" indent="0" lvl="0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Deployment: </a:t>
            </a:r>
            <a:r>
              <a:rPr lang="en-US" b="true" sz="259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Streamlit Community Cloud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Version control: GitHub, committed incrementally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91894" y="1830128"/>
            <a:ext cx="582874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Every piece here earns its place.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6529614">
            <a:off x="15245992" y="-692575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1"/>
                </a:lnTo>
                <a:lnTo>
                  <a:pt x="1650898" y="1947131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16951" y="132294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1" y="0"/>
                </a:lnTo>
                <a:lnTo>
                  <a:pt x="825511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004087">
            <a:off x="17252141" y="8123032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8" y="0"/>
                </a:moveTo>
                <a:lnTo>
                  <a:pt x="0" y="0"/>
                </a:lnTo>
                <a:lnTo>
                  <a:pt x="0" y="971052"/>
                </a:lnTo>
                <a:lnTo>
                  <a:pt x="823318" y="971052"/>
                </a:lnTo>
                <a:lnTo>
                  <a:pt x="8233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6506264" y="9363915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279482" y="9258300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1584257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828" y="1028700"/>
            <a:ext cx="4961083" cy="8229600"/>
            <a:chOff x="0" y="0"/>
            <a:chExt cx="768602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602" cy="1274980"/>
            </a:xfrm>
            <a:custGeom>
              <a:avLst/>
              <a:gdLst/>
              <a:ahLst/>
              <a:cxnLst/>
              <a:rect r="r" b="b" t="t" l="l"/>
              <a:pathLst>
                <a:path h="1274980" w="768602">
                  <a:moveTo>
                    <a:pt x="54619" y="0"/>
                  </a:moveTo>
                  <a:lnTo>
                    <a:pt x="713983" y="0"/>
                  </a:lnTo>
                  <a:cubicBezTo>
                    <a:pt x="744148" y="0"/>
                    <a:pt x="768602" y="24454"/>
                    <a:pt x="768602" y="54619"/>
                  </a:cubicBezTo>
                  <a:lnTo>
                    <a:pt x="768602" y="1220362"/>
                  </a:lnTo>
                  <a:cubicBezTo>
                    <a:pt x="768602" y="1234848"/>
                    <a:pt x="762847" y="1248740"/>
                    <a:pt x="752604" y="1258983"/>
                  </a:cubicBezTo>
                  <a:cubicBezTo>
                    <a:pt x="742361" y="1269226"/>
                    <a:pt x="728469" y="1274980"/>
                    <a:pt x="713983" y="1274980"/>
                  </a:cubicBezTo>
                  <a:lnTo>
                    <a:pt x="54619" y="1274980"/>
                  </a:lnTo>
                  <a:cubicBezTo>
                    <a:pt x="40133" y="1274980"/>
                    <a:pt x="26240" y="1269226"/>
                    <a:pt x="15997" y="1258983"/>
                  </a:cubicBezTo>
                  <a:cubicBezTo>
                    <a:pt x="5754" y="1248740"/>
                    <a:pt x="0" y="1234848"/>
                    <a:pt x="0" y="1220362"/>
                  </a:cubicBezTo>
                  <a:lnTo>
                    <a:pt x="0" y="54619"/>
                  </a:lnTo>
                  <a:cubicBezTo>
                    <a:pt x="0" y="40133"/>
                    <a:pt x="5754" y="26240"/>
                    <a:pt x="15997" y="15997"/>
                  </a:cubicBezTo>
                  <a:cubicBezTo>
                    <a:pt x="26240" y="5754"/>
                    <a:pt x="40133" y="0"/>
                    <a:pt x="54619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05" y="2867888"/>
            <a:ext cx="6464406" cy="6314873"/>
          </a:xfrm>
          <a:custGeom>
            <a:avLst/>
            <a:gdLst/>
            <a:ahLst/>
            <a:cxnLst/>
            <a:rect r="r" b="b" t="t" l="l"/>
            <a:pathLst>
              <a:path h="6314873" w="6464406">
                <a:moveTo>
                  <a:pt x="0" y="0"/>
                </a:moveTo>
                <a:lnTo>
                  <a:pt x="6464406" y="0"/>
                </a:lnTo>
                <a:lnTo>
                  <a:pt x="6464406" y="6314873"/>
                </a:lnTo>
                <a:lnTo>
                  <a:pt x="0" y="6314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39224" y="363137"/>
            <a:ext cx="1009131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Challenges &amp;</a:t>
            </a:r>
          </a:p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What I'd Build N</a:t>
            </a:r>
            <a:r>
              <a:rPr lang="en-US" sz="68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5057" y="2462123"/>
            <a:ext cx="36681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sz="26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hallenges faced: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09327" y="3039338"/>
            <a:ext cx="9300813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Hitting rat</a:t>
            </a: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limits on the Gemini API — had to manage request pacing/quotas across the 27 test calls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Tuning the auto-save gate to be strict enough to catch real risk, without routing every routine call to a human unnecessarily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Getting ambiguous category pairs right — e.g. distinguishing a billing dispute from a refund request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2188795">
            <a:off x="15191311" y="-559205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10140" y="4073603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004087">
            <a:off x="7215482" y="596653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0538083" y="9635364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2"/>
                </a:lnTo>
                <a:lnTo>
                  <a:pt x="1104993" y="1303272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203189" y="1458419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1" y="0"/>
                </a:moveTo>
                <a:lnTo>
                  <a:pt x="0" y="0"/>
                </a:lnTo>
                <a:lnTo>
                  <a:pt x="0" y="830038"/>
                </a:lnTo>
                <a:lnTo>
                  <a:pt x="825511" y="830038"/>
                </a:lnTo>
                <a:lnTo>
                  <a:pt x="82551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15057" y="6198399"/>
            <a:ext cx="342302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sz="26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 steps: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9327" y="6767994"/>
            <a:ext cx="9255067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Move to a paid/higher-tier API plan to remove rate-limit constraints at scale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Expand handbook coverage for edge-case categories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Add trend analytics over time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Multi-language transcript support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7761" y="1276350"/>
            <a:ext cx="8809255" cy="5632486"/>
            <a:chOff x="0" y="0"/>
            <a:chExt cx="1492923" cy="954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2923" cy="954549"/>
            </a:xfrm>
            <a:custGeom>
              <a:avLst/>
              <a:gdLst/>
              <a:ahLst/>
              <a:cxnLst/>
              <a:rect r="r" b="b" t="t" l="l"/>
              <a:pathLst>
                <a:path h="954549" w="1492923">
                  <a:moveTo>
                    <a:pt x="50094" y="0"/>
                  </a:moveTo>
                  <a:lnTo>
                    <a:pt x="1442829" y="0"/>
                  </a:lnTo>
                  <a:cubicBezTo>
                    <a:pt x="1456115" y="0"/>
                    <a:pt x="1468856" y="5278"/>
                    <a:pt x="1478251" y="14672"/>
                  </a:cubicBezTo>
                  <a:cubicBezTo>
                    <a:pt x="1487645" y="24067"/>
                    <a:pt x="1492923" y="36808"/>
                    <a:pt x="1492923" y="50094"/>
                  </a:cubicBezTo>
                  <a:lnTo>
                    <a:pt x="1492923" y="904455"/>
                  </a:lnTo>
                  <a:cubicBezTo>
                    <a:pt x="1492923" y="917741"/>
                    <a:pt x="1487645" y="930483"/>
                    <a:pt x="1478251" y="939877"/>
                  </a:cubicBezTo>
                  <a:cubicBezTo>
                    <a:pt x="1468856" y="949272"/>
                    <a:pt x="1456115" y="954549"/>
                    <a:pt x="1442829" y="954549"/>
                  </a:cubicBezTo>
                  <a:lnTo>
                    <a:pt x="50094" y="954549"/>
                  </a:lnTo>
                  <a:cubicBezTo>
                    <a:pt x="36808" y="954549"/>
                    <a:pt x="24067" y="949272"/>
                    <a:pt x="14672" y="939877"/>
                  </a:cubicBezTo>
                  <a:cubicBezTo>
                    <a:pt x="5278" y="930483"/>
                    <a:pt x="0" y="917741"/>
                    <a:pt x="0" y="904455"/>
                  </a:cubicBezTo>
                  <a:lnTo>
                    <a:pt x="0" y="50094"/>
                  </a:lnTo>
                  <a:cubicBezTo>
                    <a:pt x="0" y="36808"/>
                    <a:pt x="5278" y="24067"/>
                    <a:pt x="14672" y="14672"/>
                  </a:cubicBezTo>
                  <a:cubicBezTo>
                    <a:pt x="24067" y="5278"/>
                    <a:pt x="36808" y="0"/>
                    <a:pt x="50094" y="0"/>
                  </a:cubicBezTo>
                  <a:close/>
                </a:path>
              </a:pathLst>
            </a:custGeom>
            <a:solidFill>
              <a:srgbClr val="FEEFC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49550" y="875693"/>
            <a:ext cx="5208732" cy="5975993"/>
          </a:xfrm>
          <a:custGeom>
            <a:avLst/>
            <a:gdLst/>
            <a:ahLst/>
            <a:cxnLst/>
            <a:rect r="r" b="b" t="t" l="l"/>
            <a:pathLst>
              <a:path h="5975993" w="5208732">
                <a:moveTo>
                  <a:pt x="0" y="0"/>
                </a:moveTo>
                <a:lnTo>
                  <a:pt x="5208732" y="0"/>
                </a:lnTo>
                <a:lnTo>
                  <a:pt x="5208732" y="5975993"/>
                </a:lnTo>
                <a:lnTo>
                  <a:pt x="0" y="5975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2188795">
            <a:off x="14616427" y="-800062"/>
            <a:ext cx="1650898" cy="1947132"/>
          </a:xfrm>
          <a:custGeom>
            <a:avLst/>
            <a:gdLst/>
            <a:ahLst/>
            <a:cxnLst/>
            <a:rect r="r" b="b" t="t" l="l"/>
            <a:pathLst>
              <a:path h="1947132" w="1650898">
                <a:moveTo>
                  <a:pt x="1650898" y="0"/>
                </a:moveTo>
                <a:lnTo>
                  <a:pt x="0" y="0"/>
                </a:lnTo>
                <a:lnTo>
                  <a:pt x="0" y="1947132"/>
                </a:lnTo>
                <a:lnTo>
                  <a:pt x="1650898" y="1947132"/>
                </a:lnTo>
                <a:lnTo>
                  <a:pt x="16508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46545" y="6780172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0" y="0"/>
                </a:moveTo>
                <a:lnTo>
                  <a:pt x="825510" y="0"/>
                </a:lnTo>
                <a:lnTo>
                  <a:pt x="825510" y="830039"/>
                </a:lnTo>
                <a:lnTo>
                  <a:pt x="0" y="830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004087">
            <a:off x="825808" y="957197"/>
            <a:ext cx="823317" cy="971052"/>
          </a:xfrm>
          <a:custGeom>
            <a:avLst/>
            <a:gdLst/>
            <a:ahLst/>
            <a:cxnLst/>
            <a:rect r="r" b="b" t="t" l="l"/>
            <a:pathLst>
              <a:path h="971052" w="823317">
                <a:moveTo>
                  <a:pt x="823317" y="0"/>
                </a:moveTo>
                <a:lnTo>
                  <a:pt x="0" y="0"/>
                </a:lnTo>
                <a:lnTo>
                  <a:pt x="0" y="971052"/>
                </a:lnTo>
                <a:lnTo>
                  <a:pt x="823317" y="971052"/>
                </a:lnTo>
                <a:lnTo>
                  <a:pt x="8233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706900" y="9506919"/>
            <a:ext cx="1104993" cy="1303271"/>
          </a:xfrm>
          <a:custGeom>
            <a:avLst/>
            <a:gdLst/>
            <a:ahLst/>
            <a:cxnLst/>
            <a:rect r="r" b="b" t="t" l="l"/>
            <a:pathLst>
              <a:path h="1303271" w="1104993">
                <a:moveTo>
                  <a:pt x="1104993" y="0"/>
                </a:moveTo>
                <a:lnTo>
                  <a:pt x="0" y="0"/>
                </a:lnTo>
                <a:lnTo>
                  <a:pt x="0" y="1303271"/>
                </a:lnTo>
                <a:lnTo>
                  <a:pt x="1104993" y="1303271"/>
                </a:lnTo>
                <a:lnTo>
                  <a:pt x="1104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20972" r="-676614" b="-214027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358009" y="1162823"/>
            <a:ext cx="825511" cy="830038"/>
          </a:xfrm>
          <a:custGeom>
            <a:avLst/>
            <a:gdLst/>
            <a:ahLst/>
            <a:cxnLst/>
            <a:rect r="r" b="b" t="t" l="l"/>
            <a:pathLst>
              <a:path h="830038" w="825511">
                <a:moveTo>
                  <a:pt x="825510" y="0"/>
                </a:moveTo>
                <a:lnTo>
                  <a:pt x="0" y="0"/>
                </a:lnTo>
                <a:lnTo>
                  <a:pt x="0" y="830038"/>
                </a:lnTo>
                <a:lnTo>
                  <a:pt x="825510" y="830038"/>
                </a:lnTo>
                <a:lnTo>
                  <a:pt x="8255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83957" y="7978730"/>
            <a:ext cx="9757897" cy="855133"/>
            <a:chOff x="0" y="0"/>
            <a:chExt cx="2569981" cy="225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9981" cy="225220"/>
            </a:xfrm>
            <a:custGeom>
              <a:avLst/>
              <a:gdLst/>
              <a:ahLst/>
              <a:cxnLst/>
              <a:rect r="r" b="b" t="t" l="l"/>
              <a:pathLst>
                <a:path h="225220" w="2569981">
                  <a:moveTo>
                    <a:pt x="40463" y="0"/>
                  </a:moveTo>
                  <a:lnTo>
                    <a:pt x="2529518" y="0"/>
                  </a:lnTo>
                  <a:cubicBezTo>
                    <a:pt x="2551865" y="0"/>
                    <a:pt x="2569981" y="18116"/>
                    <a:pt x="2569981" y="40463"/>
                  </a:cubicBezTo>
                  <a:lnTo>
                    <a:pt x="2569981" y="184757"/>
                  </a:lnTo>
                  <a:cubicBezTo>
                    <a:pt x="2569981" y="195488"/>
                    <a:pt x="2565718" y="205780"/>
                    <a:pt x="2558130" y="213369"/>
                  </a:cubicBezTo>
                  <a:cubicBezTo>
                    <a:pt x="2550541" y="220957"/>
                    <a:pt x="2540249" y="225220"/>
                    <a:pt x="2529518" y="225220"/>
                  </a:cubicBezTo>
                  <a:lnTo>
                    <a:pt x="40463" y="225220"/>
                  </a:lnTo>
                  <a:cubicBezTo>
                    <a:pt x="29732" y="225220"/>
                    <a:pt x="19440" y="220957"/>
                    <a:pt x="11851" y="213369"/>
                  </a:cubicBezTo>
                  <a:cubicBezTo>
                    <a:pt x="4263" y="205780"/>
                    <a:pt x="0" y="195488"/>
                    <a:pt x="0" y="184757"/>
                  </a:cubicBezTo>
                  <a:lnTo>
                    <a:pt x="0" y="40463"/>
                  </a:lnTo>
                  <a:cubicBezTo>
                    <a:pt x="0" y="29732"/>
                    <a:pt x="4263" y="19440"/>
                    <a:pt x="11851" y="11851"/>
                  </a:cubicBezTo>
                  <a:cubicBezTo>
                    <a:pt x="19440" y="4263"/>
                    <a:pt x="29732" y="0"/>
                    <a:pt x="40463" y="0"/>
                  </a:cubicBezTo>
                  <a:close/>
                </a:path>
              </a:pathLst>
            </a:custGeom>
            <a:solidFill>
              <a:srgbClr val="E5326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569981" cy="291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28665" y="8247057"/>
            <a:ext cx="349802" cy="338354"/>
          </a:xfrm>
          <a:custGeom>
            <a:avLst/>
            <a:gdLst/>
            <a:ahLst/>
            <a:cxnLst/>
            <a:rect r="r" b="b" t="t" l="l"/>
            <a:pathLst>
              <a:path h="338354" w="349802">
                <a:moveTo>
                  <a:pt x="0" y="0"/>
                </a:moveTo>
                <a:lnTo>
                  <a:pt x="349803" y="0"/>
                </a:lnTo>
                <a:lnTo>
                  <a:pt x="349803" y="338354"/>
                </a:lnTo>
                <a:lnTo>
                  <a:pt x="0" y="3383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98955" y="4678376"/>
            <a:ext cx="2734120" cy="2734120"/>
          </a:xfrm>
          <a:custGeom>
            <a:avLst/>
            <a:gdLst/>
            <a:ahLst/>
            <a:cxnLst/>
            <a:rect r="r" b="b" t="t" l="l"/>
            <a:pathLst>
              <a:path h="2734120" w="2734120">
                <a:moveTo>
                  <a:pt x="0" y="0"/>
                </a:moveTo>
                <a:lnTo>
                  <a:pt x="2734120" y="0"/>
                </a:lnTo>
                <a:lnTo>
                  <a:pt x="2734120" y="2734120"/>
                </a:lnTo>
                <a:lnTo>
                  <a:pt x="0" y="27341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097919" y="1938370"/>
            <a:ext cx="490440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so much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19838" y="8160507"/>
            <a:ext cx="9079117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https://github.com/Mariam-Nassar/aftercall-platform.git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046251"/>
            <a:ext cx="2055257" cy="65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GitHub: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6551" y="5685391"/>
            <a:ext cx="2842736" cy="65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E5326C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Live demo: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39655" y="9648288"/>
            <a:ext cx="3285896" cy="38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b="true" sz="2247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Mariam Khalil Nassar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60584" y="9664200"/>
            <a:ext cx="19790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E5326C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2000">
                <a:solidFill>
                  <a:srgbClr val="E5326C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resented By: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DAHQrjq3zM4</dc:identifier>
  <dcterms:modified xsi:type="dcterms:W3CDTF">2011-08-01T06:04:30Z</dcterms:modified>
  <cp:revision>1</cp:revision>
  <dc:title>Purple Yellow and Red Modern Customer Relationship Management Business Development Presentation</dc:title>
</cp:coreProperties>
</file>